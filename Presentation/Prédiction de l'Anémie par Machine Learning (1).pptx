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 Light"/>
      <p:regular r:id="rId16"/>
      <p:bold r:id="rId17"/>
      <p:italic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E0D7A0-3FB5-44D6-9B12-C5EC401099E3}">
  <a:tblStyle styleId="{84E0D7A0-3FB5-44D6-9B12-C5EC401099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font" Target="fonts/InterLight-bold.fntdata"/><Relationship Id="rId39" Type="http://schemas.openxmlformats.org/officeDocument/2006/relationships/font" Target="fonts/InterMedium-boldItalic.fntdata"/><Relationship Id="rId16" Type="http://schemas.openxmlformats.org/officeDocument/2006/relationships/font" Target="fonts/InterLight-regular.fntdata"/><Relationship Id="rId38" Type="http://schemas.openxmlformats.org/officeDocument/2006/relationships/font" Target="fonts/InterMedium-italic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11" Type="http://schemas.openxmlformats.org/officeDocument/2006/relationships/image" Target="../media/image43.png"/><Relationship Id="rId10" Type="http://schemas.openxmlformats.org/officeDocument/2006/relationships/image" Target="../media/image20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1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10" Type="http://schemas.openxmlformats.org/officeDocument/2006/relationships/image" Target="../media/image15.png"/><Relationship Id="rId9" Type="http://schemas.openxmlformats.org/officeDocument/2006/relationships/image" Target="../media/image46.png"/><Relationship Id="rId5" Type="http://schemas.openxmlformats.org/officeDocument/2006/relationships/image" Target="../media/image41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108995"/>
            <a:ext cx="105537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76300" y="2063204"/>
            <a:ext cx="1108138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Prédiction de l'Anémie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 Machine Learning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19175" y="3345209"/>
            <a:ext cx="104108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Diagnostic assisté par l'intelligence artificielle à partir de données hématologiques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876300" y="3345209"/>
            <a:ext cx="28575" cy="33516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76300" y="4404270"/>
            <a:ext cx="50863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Présenté par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Roua Kraiem &amp; Rania Mani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343650" y="4404270"/>
            <a:ext cx="50863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Encadré par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M. Abdallah Khemais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" y="2752725"/>
            <a:ext cx="5272087" cy="2436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8412" y="2466082"/>
            <a:ext cx="5272087" cy="3009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6153150"/>
            <a:ext cx="10972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25175" y="476250"/>
            <a:ext cx="6953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47700" y="1839366"/>
            <a:ext cx="1152144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Contexte &amp; Enjeu de Santé Publique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7700" y="63055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Soutenance </a:t>
            </a:r>
            <a:r>
              <a:rPr b="0" i="0" lang="en-US" sz="9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Anémie ML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58400" y="63055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Roua Kraiem &amp; Rania Mani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85825" y="3019425"/>
            <a:ext cx="47958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800020"/>
                </a:solidFill>
                <a:latin typeface="Poppins"/>
                <a:ea typeface="Poppins"/>
                <a:cs typeface="Poppins"/>
                <a:sym typeface="Poppins"/>
              </a:rPr>
              <a:t>1.8 Md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85825" y="3648075"/>
            <a:ext cx="50356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Déficit Mondial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85825" y="4076700"/>
            <a:ext cx="479583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L'anémie touche plus d'un quart de la population mondiale selon l'OMS, menant à des complications critiques sans détection précoce.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6537" y="270420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586537" y="3304282"/>
            <a:ext cx="50356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 Défi du Diagnostic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86537" y="3732907"/>
            <a:ext cx="479583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Les infrastructures de santé manquent parfois d'outils automatisés, rapides et accessibles pour analyser efficacement les hémogrammes (NFS).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586537" y="4607123"/>
            <a:ext cx="479583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Notre Solution 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Proposer un outil intelligent basé sur l'IA pour un pré-diagnostic instantané.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19887" y="283755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47700" y="47625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000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Introduction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47700" y="9144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" y="3281213"/>
            <a:ext cx="5272087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" y="6153150"/>
            <a:ext cx="10972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87075" y="476250"/>
            <a:ext cx="733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47700" y="1558230"/>
            <a:ext cx="1152144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 Dataset Réel (Source Kaggle)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7700" y="63055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Soutenance </a:t>
            </a:r>
            <a:r>
              <a:rPr b="0" i="0" lang="en-US" sz="9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Anémie ML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248900" y="6305550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Source: Kaggle Dataset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7700" y="2650777"/>
            <a:ext cx="52720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Modélisation construite à partir de dossiers cliniques de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1 421 patients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réels, assurant la robustesse du modèle.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71575" y="3547913"/>
            <a:ext cx="47355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 Sélectionnées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360982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152525" y="3976538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Variables Cliniques 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Hémoglobine (Hb), MCH, MCHC, MCV et le Genre.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52525" y="4548038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Distribution Cible 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Une base équilibrée pour éviter les biais algorithmiques (801 sains / 620 anémiques).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47700" y="47625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000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Données d'Entraînement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647700" y="9144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5825" y="399558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5825" y="456708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57975" y="1770059"/>
            <a:ext cx="4644050" cy="38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" y="2103090"/>
            <a:ext cx="5272087" cy="1563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" y="3857476"/>
            <a:ext cx="5272087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87075" y="476250"/>
            <a:ext cx="733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47700" y="1524000"/>
            <a:ext cx="1152144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Analyse Exploratoire des Données (EDA)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171575" y="2369790"/>
            <a:ext cx="47355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Corrélation de l'Hémoglobine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85825" y="2798415"/>
            <a:ext cx="479583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matrice met en évidence une très forte corrélation négative de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-0.80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entre le taux d'Hémoglobine et le diagnostic d'anémie.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200150" y="4095601"/>
            <a:ext cx="47055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Préparation Clinique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43170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5825" y="4157513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152525" y="4524226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Traitement ciblé des valeurs aberrantes (outliers) pour chaque variable.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152525" y="5095726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Forte séparabilité identifiée sur les distributions de MCH et MCV.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7700" y="47625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000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Statistique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647700" y="9144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825" y="454327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825" y="511477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19775" y="2431692"/>
            <a:ext cx="3453525" cy="259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6250" y="2684113"/>
            <a:ext cx="3088457" cy="23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162" y="335086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1987" y="335086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2812" y="335086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53637" y="335086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" y="6153150"/>
            <a:ext cx="10972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877550" y="476250"/>
            <a:ext cx="742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647700" y="2390775"/>
            <a:ext cx="1152144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Pipeline de Traitement &amp; Modélisation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47700" y="63055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Soutenance </a:t>
            </a:r>
            <a:r>
              <a:rPr b="0" i="0" lang="en-US" sz="9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Anémie ML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029825" y="6305550"/>
            <a:ext cx="15906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Workflow Machine Learning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1964455" y="4128045"/>
            <a:ext cx="833928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1292780" y="4074765"/>
            <a:ext cx="13101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Prétraitement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47700" y="4408140"/>
            <a:ext cx="26003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Nettoyage complet et traitement des valeurs aberrantes.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068603" y="4074765"/>
            <a:ext cx="13401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Normalisation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3438525" y="4408140"/>
            <a:ext cx="26003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Application de </a:t>
            </a: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StandardScaler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sur les variables numériques.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134463" y="4074765"/>
            <a:ext cx="7900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Splitting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229350" y="4408140"/>
            <a:ext cx="26003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Division propre des données en </a:t>
            </a: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80% Train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20% Test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710261" y="4074765"/>
            <a:ext cx="12201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Modélisation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9020175" y="4408140"/>
            <a:ext cx="26003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Entraînement de Random Forest, XGBoost et SVM en parallèle.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47700" y="47625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000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Projet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47700" y="9144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8412" y="2137320"/>
            <a:ext cx="5272087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" y="2386012"/>
            <a:ext cx="52720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6153150"/>
            <a:ext cx="10972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7075" y="476250"/>
            <a:ext cx="733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647700" y="1558230"/>
            <a:ext cx="1152144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Comparaison des Modèles &amp; Validation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47700" y="63055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Soutenance </a:t>
            </a:r>
            <a:r>
              <a:rPr b="0" i="0" lang="en-US" sz="9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Anémie ML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0391775" y="6305550"/>
            <a:ext cx="1228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Performance Globale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47700" y="5081587"/>
            <a:ext cx="527208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 modèle </a:t>
            </a: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Random Forest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 été retenu pour sa performance exceptionnelle et sa haute stabilité face aux variations mineures des données d'entrée.</a:t>
            </a:r>
            <a:endParaRPr/>
          </a:p>
        </p:txBody>
      </p:sp>
      <p:graphicFrame>
        <p:nvGraphicFramePr>
          <p:cNvPr id="200" name="Google Shape;200;p18"/>
          <p:cNvGraphicFramePr/>
          <p:nvPr/>
        </p:nvGraphicFramePr>
        <p:xfrm>
          <a:off x="657225" y="23955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{84E0D7A0-3FB5-44D6-9B12-C5EC401099E3}</a:tableStyleId>
              </a:tblPr>
              <a:tblGrid>
                <a:gridCol w="2467875"/>
                <a:gridCol w="1457175"/>
                <a:gridCol w="1328000"/>
              </a:tblGrid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Modèle Appris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80002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Random Forest Choisi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80002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80002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20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SVM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98.5%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Régression Logistique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18"/>
          <p:cNvSpPr/>
          <p:nvPr/>
        </p:nvSpPr>
        <p:spPr>
          <a:xfrm>
            <a:off x="657225" y="3390900"/>
            <a:ext cx="2467867" cy="9525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57225" y="2905125"/>
            <a:ext cx="2467867" cy="9525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3125092" y="3390900"/>
            <a:ext cx="1457176" cy="9525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125092" y="2905125"/>
            <a:ext cx="1457176" cy="9525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582269" y="3390900"/>
            <a:ext cx="1327993" cy="9525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582269" y="2905125"/>
            <a:ext cx="1327993" cy="9525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57225" y="3886200"/>
            <a:ext cx="24678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125092" y="3886200"/>
            <a:ext cx="145717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582269" y="3886200"/>
            <a:ext cx="13279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57225" y="4381500"/>
            <a:ext cx="24678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125092" y="4381500"/>
            <a:ext cx="145717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4582269" y="4381500"/>
            <a:ext cx="132799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3575" y="3062287"/>
            <a:ext cx="5334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647700" y="47625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000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Évaluation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647700" y="9144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67425" y="2294300"/>
            <a:ext cx="3832000" cy="31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" y="6153001"/>
            <a:ext cx="49720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647700" y="571500"/>
            <a:ext cx="4972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000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Clinique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647700" y="1009650"/>
            <a:ext cx="49720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6325" y="571500"/>
            <a:ext cx="733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647700" y="2643187"/>
            <a:ext cx="5220652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Interface Diagnostic Streamlit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47700" y="3222277"/>
            <a:ext cx="49720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Une démonstration d'application web fonctionnelle et ultra-rapide a été conçue pour simuler un cas réel en clinique :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47700" y="6305401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Soutenance </a:t>
            </a:r>
            <a:r>
              <a:rPr b="0" i="0" lang="en-US" sz="9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Anémie ML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4610100" y="6305401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Déploiement Web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914400" y="3852713"/>
            <a:ext cx="4705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Saisie simplifiée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 paramètres NFS du patient.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14400" y="4195613"/>
            <a:ext cx="4705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Calcul instantané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du risque d'anémie.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14400" y="4538513"/>
            <a:ext cx="4705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Confiance de la prédiction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affichée en pourcentage clair.</a:t>
            </a:r>
            <a:endParaRPr/>
          </a:p>
        </p:txBody>
      </p:sp>
      <p:pic>
        <p:nvPicPr>
          <p:cNvPr descr="image.png" id="233" name="Google Shape;23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387176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421466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455756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3354" y="1304900"/>
            <a:ext cx="5756074" cy="479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" y="1890712"/>
            <a:ext cx="52720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8412" y="1890712"/>
            <a:ext cx="5272087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6153150"/>
            <a:ext cx="10972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7075" y="476250"/>
            <a:ext cx="7334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647700" y="630555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Soutenance </a:t>
            </a:r>
            <a:r>
              <a:rPr b="0" i="0" lang="en-US" sz="9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Anémie ML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10058400" y="63055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Roua Kraiem &amp; Rania Mani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1171575" y="2157412"/>
            <a:ext cx="47355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Objectifs Atteints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872287" y="2128837"/>
            <a:ext cx="47355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Perspectives Futures</a:t>
            </a:r>
            <a:endParaRPr/>
          </a:p>
        </p:txBody>
      </p:sp>
      <p:pic>
        <p:nvPicPr>
          <p:cNvPr descr="image.png" id="251" name="Google Shape;25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5825" y="22193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1152525" y="2586037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Développement d'une chaîne de prédiction de l'anémie fiable à 100% sur le jeu de test.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152525" y="3157537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Modèle de décision performant basé sur des attributs biologiques standardisés.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1152525" y="3729037"/>
            <a:ext cx="45291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Prototype d'application web intuitif et accessible.</a:t>
            </a:r>
            <a:endParaRPr/>
          </a:p>
        </p:txBody>
      </p:sp>
      <p:pic>
        <p:nvPicPr>
          <p:cNvPr descr="image.png" id="255" name="Google Shape;25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6537" y="21907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6853237" y="2557462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Validation clinique approfondie sur des données d'hôpitaux locaux.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853237" y="3128962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Extension du modèle pour classer précisément les différents sous-types d'anémie.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853237" y="3700462"/>
            <a:ext cx="4529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Optimisation responsive pour déploiement sur terminaux mobiles.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47700" y="47625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000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Perspectives</a:t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647700" y="9144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5825" y="2605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5825" y="31765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5825" y="3748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6537" y="25765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6537" y="31480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6537" y="371951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34327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537329" y="2706612"/>
            <a:ext cx="11521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Merci pour votre attention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